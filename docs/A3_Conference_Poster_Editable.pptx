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4176" cy="1261872"/>
          </a:xfrm>
          <a:prstGeom prst="rect">
            <a:avLst/>
          </a:prstGeom>
          <a:solidFill>
            <a:srgbClr val="141F3D"/>
          </a:solidFill>
          <a:ln>
            <a:solidFill>
              <a:srgbClr val="14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10789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1">
                <a:solidFill>
                  <a:srgbClr val="FFFFFF"/>
                </a:solidFill>
                <a:latin typeface="Aptos"/>
              </a:rPr>
              <a:t>CREDIT RISK ANALYSIS  ×  CUSTOMER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"/>
            <a:ext cx="11064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30" b="0">
                <a:solidFill>
                  <a:srgbClr val="CAD7E9"/>
                </a:solidFill>
                <a:latin typeface="Aptos"/>
              </a:rPr>
              <a:t>An Explainable Machine-Learning Framework for Risk-Aware, Customer-Centric Banking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042416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600" b="1">
                <a:solidFill>
                  <a:srgbClr val="9DB1CA"/>
                </a:solidFill>
                <a:latin typeface="Aptos"/>
              </a:rPr>
              <a:t>GERMAN CREDIT RISK  +  CUSTOMER PERSONALITY ANALYSIS  |  DATA • EDA • ML • SEGMENTATION • DECISION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79808" y="173736"/>
            <a:ext cx="2331720" cy="210312"/>
          </a:xfrm>
          <a:prstGeom prst="roundRect">
            <a:avLst>
              <a:gd name="adj" fmla="val 4000"/>
            </a:avLst>
          </a:prstGeom>
          <a:solidFill>
            <a:srgbClr val="2657A0"/>
          </a:solidFill>
          <a:ln>
            <a:solidFill>
              <a:srgbClr val="265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79808" y="196596"/>
            <a:ext cx="2331720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Aptos"/>
              </a:rPr>
              <a:t>MACHINE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179808" y="448056"/>
            <a:ext cx="2331720" cy="210312"/>
          </a:xfrm>
          <a:prstGeom prst="roundRect">
            <a:avLst>
              <a:gd name="adj" fmla="val 4000"/>
            </a:avLst>
          </a:prstGeom>
          <a:solidFill>
            <a:srgbClr val="16857E"/>
          </a:solidFill>
          <a:ln>
            <a:solidFill>
              <a:srgbClr val="16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79808" y="470916"/>
            <a:ext cx="2331720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Aptos"/>
              </a:rPr>
              <a:t>FINTECH / BANKING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179808" y="722376"/>
            <a:ext cx="2331720" cy="210312"/>
          </a:xfrm>
          <a:prstGeom prst="roundRect">
            <a:avLst>
              <a:gd name="adj" fmla="val 4000"/>
            </a:avLst>
          </a:prstGeom>
          <a:solidFill>
            <a:srgbClr val="D3912C"/>
          </a:solidFill>
          <a:ln>
            <a:solidFill>
              <a:srgbClr val="D3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79808" y="745236"/>
            <a:ext cx="2331720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Aptos"/>
              </a:rPr>
              <a:t>A3 • RESEARCH POSTER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" y="1426464"/>
            <a:ext cx="4297680" cy="13533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7784" y="1545336"/>
            <a:ext cx="320040" cy="320040"/>
          </a:xfrm>
          <a:prstGeom prst="ellipse">
            <a:avLst/>
          </a:prstGeom>
          <a:solidFill>
            <a:srgbClr val="2657A0"/>
          </a:solidFill>
          <a:ln>
            <a:solidFill>
              <a:srgbClr val="265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1595628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1554480"/>
            <a:ext cx="3557015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69" b="1">
                <a:solidFill>
                  <a:srgbClr val="19263A"/>
                </a:solidFill>
                <a:latin typeface="Aptos"/>
              </a:rPr>
              <a:t>ABSTRACT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" y="1810512"/>
            <a:ext cx="566928" cy="27432"/>
          </a:xfrm>
          <a:prstGeom prst="rect">
            <a:avLst/>
          </a:prstGeom>
          <a:solidFill>
            <a:srgbClr val="2657A0"/>
          </a:solidFill>
          <a:ln>
            <a:solidFill>
              <a:srgbClr val="265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1901952"/>
            <a:ext cx="39319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15" b="0">
                <a:solidFill>
                  <a:srgbClr val="414D5E"/>
                </a:solidFill>
                <a:latin typeface="Aptos"/>
              </a:rPr>
              <a:t>Financial institutions need both reliable credit-risk assessment and a detailed understanding of customer behaviour. This project integrates supervised credit-risk classification with unsupervised customer segmentation. The credit branch classifies applicants as Good/Bad risk; the segmentation branch identifies natural behavioural groups. Both outputs are connected to explainable, actionable banking recommendations and an interactive Streamlit decision-support layer.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" y="2898648"/>
            <a:ext cx="4297680" cy="685800"/>
          </a:xfrm>
          <a:prstGeom prst="roundRect">
            <a:avLst>
              <a:gd name="adj" fmla="val 4000"/>
            </a:avLst>
          </a:prstGeom>
          <a:solidFill>
            <a:srgbClr val="ECF3FD"/>
          </a:solidFill>
          <a:ln>
            <a:solidFill>
              <a:srgbClr val="EC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3017520"/>
            <a:ext cx="6583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650" b="1">
                <a:solidFill>
                  <a:srgbClr val="2657A0"/>
                </a:solidFill>
                <a:latin typeface="Aptos"/>
              </a:rPr>
              <a:t>KEYWORDS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07592" y="2999232"/>
            <a:ext cx="1039672" cy="2103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07592" y="3022091"/>
            <a:ext cx="1039672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80" b="1">
                <a:solidFill>
                  <a:srgbClr val="414D5E"/>
                </a:solidFill>
                <a:latin typeface="Aptos"/>
              </a:rPr>
              <a:t>Credit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83840" y="2999232"/>
            <a:ext cx="1469440" cy="2103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83840" y="3022091"/>
            <a:ext cx="1469440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80" b="1">
                <a:solidFill>
                  <a:srgbClr val="414D5E"/>
                </a:solidFill>
                <a:latin typeface="Aptos"/>
              </a:rPr>
              <a:t>Customer Segmentation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" y="3712463"/>
            <a:ext cx="429768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57784" y="3831336"/>
            <a:ext cx="320040" cy="320040"/>
          </a:xfrm>
          <a:prstGeom prst="ellipse">
            <a:avLst/>
          </a:prstGeom>
          <a:solidFill>
            <a:srgbClr val="2657A0"/>
          </a:solidFill>
          <a:ln>
            <a:solidFill>
              <a:srgbClr val="265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" y="3881628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3840480"/>
            <a:ext cx="3557015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69" b="1">
                <a:solidFill>
                  <a:srgbClr val="19263A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" y="4096512"/>
            <a:ext cx="566928" cy="27432"/>
          </a:xfrm>
          <a:prstGeom prst="rect">
            <a:avLst/>
          </a:prstGeom>
          <a:solidFill>
            <a:srgbClr val="2657A0"/>
          </a:solidFill>
          <a:ln>
            <a:solidFill>
              <a:srgbClr val="265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4187952"/>
            <a:ext cx="1938528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675" b="1">
                <a:solidFill>
                  <a:srgbClr val="19263A"/>
                </a:solidFill>
                <a:latin typeface="Aptos"/>
              </a:rPr>
              <a:t>PROBLEM
• Manual decisions can be slow/inconsistent.
• Generic marketing ignores heterogeneous behaviour.
• High-risk applicants must be detected carefully.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60904" y="4187952"/>
            <a:ext cx="1847088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675" b="1">
                <a:solidFill>
                  <a:srgbClr val="19263A"/>
                </a:solidFill>
                <a:latin typeface="Aptos"/>
              </a:rPr>
              <a:t>OBJECTIVES
• Predict applicant risk.
• Discover customer groups.
• Predict future segment membership.
• Recommend targeted actions.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3192" y="5340096"/>
            <a:ext cx="429768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57784" y="5458968"/>
            <a:ext cx="320040" cy="320040"/>
          </a:xfrm>
          <a:prstGeom prst="ellipse">
            <a:avLst/>
          </a:prstGeom>
          <a:solidFill>
            <a:srgbClr val="D3912C"/>
          </a:solidFill>
          <a:ln>
            <a:solidFill>
              <a:srgbClr val="D3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" y="5509259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" y="5468112"/>
            <a:ext cx="3557015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69" b="1">
                <a:solidFill>
                  <a:srgbClr val="19263A"/>
                </a:solidFill>
                <a:latin typeface="Aptos"/>
              </a:rPr>
              <a:t>DATASETS &amp; FEATURE GROUPS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9264" y="5724144"/>
            <a:ext cx="566928" cy="27432"/>
          </a:xfrm>
          <a:prstGeom prst="rect">
            <a:avLst/>
          </a:prstGeom>
          <a:solidFill>
            <a:srgbClr val="D3912C"/>
          </a:solidFill>
          <a:ln>
            <a:solidFill>
              <a:srgbClr val="D3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5769864"/>
            <a:ext cx="190195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680" b="1">
                <a:solidFill>
                  <a:srgbClr val="2657A0"/>
                </a:solidFill>
                <a:latin typeface="Aptos"/>
              </a:rPr>
              <a:t>GERMAN CREDIT RISK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" y="6007608"/>
            <a:ext cx="1901952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635" b="0">
                <a:solidFill>
                  <a:srgbClr val="414D5E"/>
                </a:solidFill>
                <a:latin typeface="Aptos"/>
              </a:rPr>
              <a:t>Age • Sex • Job • Housing
Credit Amount • Duration
Saving Account • Checking Account
Purpose • other relevant credit attributes
TARGET: Good = Low Risk | Bad = High 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5769864"/>
            <a:ext cx="1856231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680" b="1">
                <a:solidFill>
                  <a:srgbClr val="16857E"/>
                </a:solidFill>
                <a:latin typeface="Aptos"/>
              </a:rPr>
              <a:t>CUSTOMER PERSONALITY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6007608"/>
            <a:ext cx="1856231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615" b="0">
                <a:solidFill>
                  <a:srgbClr val="414D5E"/>
                </a:solidFill>
                <a:latin typeface="Aptos"/>
              </a:rPr>
              <a:t>Demographic: Age • Income • Education • Marital Status
Behaviour: Total Spending • Web/Store/Catalog/Deals Purchases
Engagement: Website Visits • Campaign Responses • Recency
Financial: product spending + purchase frequency + value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3192" y="7296912"/>
            <a:ext cx="42976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784" y="7415783"/>
            <a:ext cx="320040" cy="320040"/>
          </a:xfrm>
          <a:prstGeom prst="ellipse">
            <a:avLst/>
          </a:prstGeom>
          <a:solidFill>
            <a:srgbClr val="6F509D"/>
          </a:solidFill>
          <a:ln>
            <a:solidFill>
              <a:srgbClr val="6F5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" y="7466075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" y="7424927"/>
            <a:ext cx="3557015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69" b="1">
                <a:solidFill>
                  <a:srgbClr val="19263A"/>
                </a:solidFill>
                <a:latin typeface="Aptos"/>
              </a:rPr>
              <a:t>PREPROCESSING &amp; FEATURE ENGINEERING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9264" y="7680959"/>
            <a:ext cx="566928" cy="27432"/>
          </a:xfrm>
          <a:prstGeom prst="rect">
            <a:avLst/>
          </a:prstGeom>
          <a:solidFill>
            <a:srgbClr val="6F509D"/>
          </a:solidFill>
          <a:ln>
            <a:solidFill>
              <a:srgbClr val="6F5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" y="7744968"/>
            <a:ext cx="19202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645" b="0">
                <a:solidFill>
                  <a:srgbClr val="414D5E"/>
                </a:solidFill>
                <a:latin typeface="Aptos"/>
              </a:rPr>
              <a:t>CLEAN
Missing values • duplicates • outliers
ENCODE
Categorical → numerical
SPLIT
Training / testing for supervised learning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51760" y="7744968"/>
            <a:ext cx="1856231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645" b="0">
                <a:solidFill>
                  <a:srgbClr val="414D5E"/>
                </a:solidFill>
                <a:latin typeface="Aptos"/>
              </a:rPr>
              <a:t>ENGINEER
Age • Total Children • Total Spending
Customer Since • AcceptedAny • AgeGroup
TRANSFORM
Scaling / normalization / standardization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3192" y="8860536"/>
            <a:ext cx="4297680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8979408"/>
            <a:ext cx="320040" cy="320040"/>
          </a:xfrm>
          <a:prstGeom prst="ellipse">
            <a:avLst/>
          </a:prstGeom>
          <a:solidFill>
            <a:srgbClr val="16857E"/>
          </a:solidFill>
          <a:ln>
            <a:solidFill>
              <a:srgbClr val="16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7784" y="9029700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" y="8988552"/>
            <a:ext cx="3557015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69" b="1">
                <a:solidFill>
                  <a:srgbClr val="19263A"/>
                </a:solidFill>
                <a:latin typeface="Aptos"/>
              </a:rPr>
              <a:t>EDA: EVIDENCE FROM THE ANALYSIS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9264" y="9244584"/>
            <a:ext cx="566928" cy="27432"/>
          </a:xfrm>
          <a:prstGeom prst="rect">
            <a:avLst/>
          </a:prstGeom>
          <a:solidFill>
            <a:srgbClr val="16857E"/>
          </a:solidFill>
          <a:ln>
            <a:solidFill>
              <a:srgbClr val="16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e7e0a18e-2239-4f10-ae2b-15ae08c663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9317736"/>
            <a:ext cx="1188720" cy="832104"/>
          </a:xfrm>
          <a:prstGeom prst="rect">
            <a:avLst/>
          </a:prstGeom>
        </p:spPr>
      </p:pic>
      <p:pic>
        <p:nvPicPr>
          <p:cNvPr id="53" name="Picture 52" descr="2f83b087-dae7-47e3-963b-403580356b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528" y="9317736"/>
            <a:ext cx="1188720" cy="832104"/>
          </a:xfrm>
          <a:prstGeom prst="rect">
            <a:avLst/>
          </a:prstGeom>
        </p:spPr>
      </p:pic>
      <p:pic>
        <p:nvPicPr>
          <p:cNvPr id="54" name="Picture 53" descr="afe4ce42-1df4-44ed-b8fb-604f86c744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9317736"/>
            <a:ext cx="1188720" cy="83210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76072" y="10177272"/>
            <a:ext cx="118872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20" b="1">
                <a:solidFill>
                  <a:srgbClr val="2657A0"/>
                </a:solidFill>
                <a:latin typeface="Aptos"/>
              </a:rPr>
              <a:t>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38528" y="10177272"/>
            <a:ext cx="118872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20" b="1">
                <a:solidFill>
                  <a:srgbClr val="D3912C"/>
                </a:solidFill>
                <a:latin typeface="Aptos"/>
              </a:rPr>
              <a:t>INCOME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00984" y="10177272"/>
            <a:ext cx="118872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20" b="1">
                <a:solidFill>
                  <a:srgbClr val="16857E"/>
                </a:solidFill>
                <a:latin typeface="Aptos"/>
              </a:rPr>
              <a:t>SPENDING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965192" y="1426464"/>
            <a:ext cx="4315968" cy="2313432"/>
          </a:xfrm>
          <a:prstGeom prst="roundRect">
            <a:avLst>
              <a:gd name="adj" fmla="val 4000"/>
            </a:avLst>
          </a:prstGeom>
          <a:solidFill>
            <a:srgbClr val="141F3D"/>
          </a:solidFill>
          <a:ln>
            <a:solidFill>
              <a:srgbClr val="14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129783" y="1545336"/>
            <a:ext cx="320040" cy="32004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29783" y="1595628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41264" y="1554480"/>
            <a:ext cx="357530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69" b="1">
                <a:solidFill>
                  <a:srgbClr val="19263A"/>
                </a:solidFill>
                <a:latin typeface="Aptos"/>
              </a:rPr>
              <a:t>SYSTEM ARCHITECTURE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41264" y="1810512"/>
            <a:ext cx="566928" cy="274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29783" y="1847088"/>
            <a:ext cx="3986783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650" b="1">
                <a:solidFill>
                  <a:srgbClr val="B9C9DC"/>
                </a:solidFill>
                <a:latin typeface="Aptos"/>
              </a:rPr>
              <a:t>RAW DATA → CLEANING → FEATURE ENGINEERING → MODELING → EXPLANATION → ACTION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75504" y="2139696"/>
            <a:ext cx="694944" cy="384048"/>
          </a:xfrm>
          <a:prstGeom prst="roundRect">
            <a:avLst>
              <a:gd name="adj" fmla="val 4000"/>
            </a:avLst>
          </a:prstGeom>
          <a:solidFill>
            <a:srgbClr val="ECF3FD"/>
          </a:solidFill>
          <a:ln>
            <a:solidFill>
              <a:srgbClr val="EC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75504" y="2240280"/>
            <a:ext cx="694944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90" b="1">
                <a:solidFill>
                  <a:srgbClr val="2657A0"/>
                </a:solidFill>
                <a:latin typeface="Aptos"/>
              </a:rPr>
              <a:t>DATA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870448" y="2331720"/>
            <a:ext cx="91440" cy="0"/>
          </a:xfrm>
          <a:prstGeom prst="line">
            <a:avLst/>
          </a:prstGeom>
          <a:ln w="12700">
            <a:solidFill>
              <a:srgbClr val="A4B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5971032" y="2139696"/>
            <a:ext cx="694944" cy="384048"/>
          </a:xfrm>
          <a:prstGeom prst="roundRect">
            <a:avLst>
              <a:gd name="adj" fmla="val 4000"/>
            </a:avLst>
          </a:prstGeom>
          <a:solidFill>
            <a:srgbClr val="F5F1FA"/>
          </a:solidFill>
          <a:ln>
            <a:solidFill>
              <a:srgbClr val="F5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71032" y="2240280"/>
            <a:ext cx="694944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90" b="1">
                <a:solidFill>
                  <a:srgbClr val="6F509D"/>
                </a:solidFill>
                <a:latin typeface="Aptos"/>
              </a:rPr>
              <a:t>CLEAN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665976" y="2331720"/>
            <a:ext cx="91440" cy="0"/>
          </a:xfrm>
          <a:prstGeom prst="line">
            <a:avLst/>
          </a:prstGeom>
          <a:ln w="12700">
            <a:solidFill>
              <a:srgbClr val="A4B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6766560" y="2139696"/>
            <a:ext cx="694944" cy="384048"/>
          </a:xfrm>
          <a:prstGeom prst="roundRect">
            <a:avLst>
              <a:gd name="adj" fmla="val 4000"/>
            </a:avLst>
          </a:prstGeom>
          <a:solidFill>
            <a:srgbClr val="FDF5E8"/>
          </a:solidFill>
          <a:ln>
            <a:solidFill>
              <a:srgbClr val="FD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66560" y="2240280"/>
            <a:ext cx="694944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90" b="1">
                <a:solidFill>
                  <a:srgbClr val="D3912C"/>
                </a:solidFill>
                <a:latin typeface="Aptos"/>
              </a:rPr>
              <a:t>FEATURES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461504" y="2331720"/>
            <a:ext cx="91440" cy="0"/>
          </a:xfrm>
          <a:prstGeom prst="line">
            <a:avLst/>
          </a:prstGeom>
          <a:ln w="12700">
            <a:solidFill>
              <a:srgbClr val="A4B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7562088" y="2139696"/>
            <a:ext cx="694944" cy="384048"/>
          </a:xfrm>
          <a:prstGeom prst="roundRect">
            <a:avLst>
              <a:gd name="adj" fmla="val 4000"/>
            </a:avLst>
          </a:prstGeom>
          <a:solidFill>
            <a:srgbClr val="E9F7F5"/>
          </a:solidFill>
          <a:ln>
            <a:solidFill>
              <a:srgbClr val="E9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62088" y="2240280"/>
            <a:ext cx="694944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90" b="1">
                <a:solidFill>
                  <a:srgbClr val="16857E"/>
                </a:solidFill>
                <a:latin typeface="Aptos"/>
              </a:rPr>
              <a:t>MODELS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257031" y="2331720"/>
            <a:ext cx="91440" cy="0"/>
          </a:xfrm>
          <a:prstGeom prst="line">
            <a:avLst/>
          </a:prstGeom>
          <a:ln w="12700">
            <a:solidFill>
              <a:srgbClr val="A4B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8357615" y="2139696"/>
            <a:ext cx="694944" cy="3840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57615" y="2240280"/>
            <a:ext cx="694944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90" b="1">
                <a:solidFill>
                  <a:srgbClr val="141F3D"/>
                </a:solidFill>
                <a:latin typeface="Aptos"/>
              </a:rPr>
              <a:t>DECISION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230368" y="2660904"/>
            <a:ext cx="1709928" cy="832104"/>
          </a:xfrm>
          <a:prstGeom prst="roundRect">
            <a:avLst>
              <a:gd name="adj" fmla="val 4000"/>
            </a:avLst>
          </a:prstGeom>
          <a:solidFill>
            <a:srgbClr val="ECF3FD"/>
          </a:solidFill>
          <a:ln>
            <a:solidFill>
              <a:srgbClr val="265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330952" y="2779776"/>
            <a:ext cx="15087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770" b="1">
                <a:solidFill>
                  <a:srgbClr val="2657A0"/>
                </a:solidFill>
                <a:latin typeface="Aptos"/>
              </a:rPr>
              <a:t>CREDIT RISK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30952" y="3008376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630" b="0">
                <a:solidFill>
                  <a:srgbClr val="414D5E"/>
                </a:solidFill>
                <a:latin typeface="Aptos"/>
              </a:rPr>
              <a:t>Decision Tree • Random Forest
Extra Trees • XGBoost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296912" y="2660904"/>
            <a:ext cx="1709928" cy="832104"/>
          </a:xfrm>
          <a:prstGeom prst="roundRect">
            <a:avLst>
              <a:gd name="adj" fmla="val 4000"/>
            </a:avLst>
          </a:prstGeom>
          <a:solidFill>
            <a:srgbClr val="E9F7F5"/>
          </a:solidFill>
          <a:ln>
            <a:solidFill>
              <a:srgbClr val="16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97496" y="2779776"/>
            <a:ext cx="15087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720" b="1">
                <a:solidFill>
                  <a:srgbClr val="16857E"/>
                </a:solidFill>
                <a:latin typeface="Aptos"/>
              </a:rPr>
              <a:t>CUSTOMER SEGMENTATION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97496" y="3008376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630" b="0">
                <a:solidFill>
                  <a:srgbClr val="414D5E"/>
                </a:solidFill>
                <a:latin typeface="Aptos"/>
              </a:rPr>
              <a:t>K-Means (primary)
Hierarchical • DBSCAN</a:t>
            </a:r>
          </a:p>
        </p:txBody>
      </p:sp>
      <p:cxnSp>
        <p:nvCxnSpPr>
          <p:cNvPr id="84" name="Connector 83"/>
          <p:cNvCxnSpPr/>
          <p:nvPr/>
        </p:nvCxnSpPr>
        <p:spPr>
          <a:xfrm flipH="1">
            <a:off x="6089904" y="2487168"/>
            <a:ext cx="1024127" cy="173736"/>
          </a:xfrm>
          <a:prstGeom prst="line">
            <a:avLst/>
          </a:prstGeom>
          <a:ln w="12700">
            <a:solidFill>
              <a:srgbClr val="A4B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114031" y="2487168"/>
            <a:ext cx="1033273" cy="173736"/>
          </a:xfrm>
          <a:prstGeom prst="line">
            <a:avLst/>
          </a:prstGeom>
          <a:ln w="12700">
            <a:solidFill>
              <a:srgbClr val="A4B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5897879" y="3648456"/>
            <a:ext cx="2468880" cy="338328"/>
          </a:xfrm>
          <a:prstGeom prst="roundRect">
            <a:avLst>
              <a:gd name="adj" fmla="val 4000"/>
            </a:avLst>
          </a:prstGeom>
          <a:solidFill>
            <a:srgbClr val="D3912C"/>
          </a:solidFill>
          <a:ln>
            <a:solidFill>
              <a:srgbClr val="D3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897879" y="3730752"/>
            <a:ext cx="2468880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640" b="1">
                <a:solidFill>
                  <a:srgbClr val="FFFFFF"/>
                </a:solidFill>
                <a:latin typeface="Aptos"/>
              </a:rPr>
              <a:t>EXPLAIN → PROFILE → RECOMMEND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965192" y="3886200"/>
            <a:ext cx="4315968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129783" y="4005072"/>
            <a:ext cx="320040" cy="320040"/>
          </a:xfrm>
          <a:prstGeom prst="ellipse">
            <a:avLst/>
          </a:prstGeom>
          <a:solidFill>
            <a:srgbClr val="2657A0"/>
          </a:solidFill>
          <a:ln>
            <a:solidFill>
              <a:srgbClr val="265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129783" y="4055363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541264" y="4014215"/>
            <a:ext cx="357530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69" b="1">
                <a:solidFill>
                  <a:srgbClr val="19263A"/>
                </a:solidFill>
                <a:latin typeface="Aptos"/>
              </a:rPr>
              <a:t>END-TO-END METHODOLOGY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541264" y="4270248"/>
            <a:ext cx="566928" cy="27432"/>
          </a:xfrm>
          <a:prstGeom prst="rect">
            <a:avLst/>
          </a:prstGeom>
          <a:solidFill>
            <a:srgbClr val="2657A0"/>
          </a:solidFill>
          <a:ln>
            <a:solidFill>
              <a:srgbClr val="265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138928" y="4389120"/>
            <a:ext cx="256032" cy="256032"/>
          </a:xfrm>
          <a:prstGeom prst="ellipse">
            <a:avLst/>
          </a:prstGeom>
          <a:solidFill>
            <a:srgbClr val="2657A0"/>
          </a:solidFill>
          <a:ln>
            <a:solidFill>
              <a:srgbClr val="265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138928" y="4439412"/>
            <a:ext cx="256032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84064" y="4681728"/>
            <a:ext cx="36576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09" b="1">
                <a:solidFill>
                  <a:srgbClr val="19263A"/>
                </a:solidFill>
                <a:latin typeface="Aptos"/>
              </a:rPr>
              <a:t>DATA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404104" y="4517136"/>
            <a:ext cx="265176" cy="0"/>
          </a:xfrm>
          <a:prstGeom prst="line">
            <a:avLst/>
          </a:prstGeom>
          <a:ln w="12700">
            <a:solidFill>
              <a:srgbClr val="DA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5715000" y="4389120"/>
            <a:ext cx="256032" cy="256032"/>
          </a:xfrm>
          <a:prstGeom prst="ellipse">
            <a:avLst/>
          </a:prstGeom>
          <a:solidFill>
            <a:srgbClr val="16857E"/>
          </a:solidFill>
          <a:ln>
            <a:solidFill>
              <a:srgbClr val="16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715000" y="4439412"/>
            <a:ext cx="256032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60136" y="4681728"/>
            <a:ext cx="36576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09" b="1">
                <a:solidFill>
                  <a:srgbClr val="19263A"/>
                </a:solidFill>
                <a:latin typeface="Aptos"/>
              </a:rPr>
              <a:t>EDA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5980176" y="4517136"/>
            <a:ext cx="265176" cy="0"/>
          </a:xfrm>
          <a:prstGeom prst="line">
            <a:avLst/>
          </a:prstGeom>
          <a:ln w="12700">
            <a:solidFill>
              <a:srgbClr val="DA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6291072" y="4389120"/>
            <a:ext cx="256032" cy="256032"/>
          </a:xfrm>
          <a:prstGeom prst="ellipse">
            <a:avLst/>
          </a:prstGeom>
          <a:solidFill>
            <a:srgbClr val="6F509D"/>
          </a:solidFill>
          <a:ln>
            <a:solidFill>
              <a:srgbClr val="6F5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291072" y="4439412"/>
            <a:ext cx="256032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236208" y="4681728"/>
            <a:ext cx="36576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09" b="1">
                <a:solidFill>
                  <a:srgbClr val="19263A"/>
                </a:solidFill>
                <a:latin typeface="Aptos"/>
              </a:rPr>
              <a:t>ENGINEER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6556248" y="4517136"/>
            <a:ext cx="265176" cy="0"/>
          </a:xfrm>
          <a:prstGeom prst="line">
            <a:avLst/>
          </a:prstGeom>
          <a:ln w="12700">
            <a:solidFill>
              <a:srgbClr val="DA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6867144" y="4389120"/>
            <a:ext cx="256032" cy="256032"/>
          </a:xfrm>
          <a:prstGeom prst="ellipse">
            <a:avLst/>
          </a:prstGeom>
          <a:solidFill>
            <a:srgbClr val="D3912C"/>
          </a:solidFill>
          <a:ln>
            <a:solidFill>
              <a:srgbClr val="D3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867144" y="4439412"/>
            <a:ext cx="256032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12280" y="4681728"/>
            <a:ext cx="36576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09" b="1">
                <a:solidFill>
                  <a:srgbClr val="19263A"/>
                </a:solidFill>
                <a:latin typeface="Aptos"/>
              </a:rPr>
              <a:t>SCALE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7132320" y="4517136"/>
            <a:ext cx="265176" cy="0"/>
          </a:xfrm>
          <a:prstGeom prst="line">
            <a:avLst/>
          </a:prstGeom>
          <a:ln w="12700">
            <a:solidFill>
              <a:srgbClr val="DA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7443216" y="4389120"/>
            <a:ext cx="256032" cy="256032"/>
          </a:xfrm>
          <a:prstGeom prst="ellipse">
            <a:avLst/>
          </a:prstGeom>
          <a:solidFill>
            <a:srgbClr val="2657A0"/>
          </a:solidFill>
          <a:ln>
            <a:solidFill>
              <a:srgbClr val="265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443216" y="4439412"/>
            <a:ext cx="256032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88352" y="4681728"/>
            <a:ext cx="36576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09" b="1">
                <a:solidFill>
                  <a:srgbClr val="19263A"/>
                </a:solidFill>
                <a:latin typeface="Aptos"/>
              </a:rPr>
              <a:t>TRAIN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7708392" y="4517136"/>
            <a:ext cx="265176" cy="0"/>
          </a:xfrm>
          <a:prstGeom prst="line">
            <a:avLst/>
          </a:prstGeom>
          <a:ln w="12700">
            <a:solidFill>
              <a:srgbClr val="DA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8019288" y="4389120"/>
            <a:ext cx="256032" cy="256032"/>
          </a:xfrm>
          <a:prstGeom prst="ellipse">
            <a:avLst/>
          </a:prstGeom>
          <a:solidFill>
            <a:srgbClr val="16857E"/>
          </a:solidFill>
          <a:ln>
            <a:solidFill>
              <a:srgbClr val="16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019288" y="4439412"/>
            <a:ext cx="256032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64423" y="4681728"/>
            <a:ext cx="36576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09" b="1">
                <a:solidFill>
                  <a:srgbClr val="19263A"/>
                </a:solidFill>
                <a:latin typeface="Aptos"/>
              </a:rPr>
              <a:t>EVALUATE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8284463" y="4517136"/>
            <a:ext cx="265177" cy="0"/>
          </a:xfrm>
          <a:prstGeom prst="line">
            <a:avLst/>
          </a:prstGeom>
          <a:ln w="12700">
            <a:solidFill>
              <a:srgbClr val="DA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/>
          <p:cNvSpPr/>
          <p:nvPr/>
        </p:nvSpPr>
        <p:spPr>
          <a:xfrm>
            <a:off x="8595360" y="4389120"/>
            <a:ext cx="256032" cy="256032"/>
          </a:xfrm>
          <a:prstGeom prst="ellipse">
            <a:avLst/>
          </a:prstGeom>
          <a:solidFill>
            <a:srgbClr val="6F509D"/>
          </a:solidFill>
          <a:ln>
            <a:solidFill>
              <a:srgbClr val="6F5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595360" y="4439412"/>
            <a:ext cx="256032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540496" y="4681728"/>
            <a:ext cx="36576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09" b="1">
                <a:solidFill>
                  <a:srgbClr val="19263A"/>
                </a:solidFill>
                <a:latin typeface="Aptos"/>
              </a:rPr>
              <a:t>DEPLOY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129783" y="4956048"/>
            <a:ext cx="3986783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80" b="0">
                <a:solidFill>
                  <a:srgbClr val="6F7C8E"/>
                </a:solidFill>
                <a:latin typeface="Aptos"/>
              </a:rPr>
              <a:t>Risk evaluation prioritises high-risk recall; clustering evaluation focuses on compactness and separation.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965192" y="5230368"/>
            <a:ext cx="4315968" cy="1234440"/>
          </a:xfrm>
          <a:prstGeom prst="roundRect">
            <a:avLst>
              <a:gd name="adj" fmla="val 4000"/>
            </a:avLst>
          </a:prstGeom>
          <a:solidFill>
            <a:srgbClr val="ECF3FD"/>
          </a:solidFill>
          <a:ln>
            <a:solidFill>
              <a:srgbClr val="EC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129783" y="5349240"/>
            <a:ext cx="320040" cy="320040"/>
          </a:xfrm>
          <a:prstGeom prst="ellipse">
            <a:avLst/>
          </a:prstGeom>
          <a:solidFill>
            <a:srgbClr val="2657A0"/>
          </a:solidFill>
          <a:ln>
            <a:solidFill>
              <a:srgbClr val="265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129783" y="5399531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541264" y="5358383"/>
            <a:ext cx="357530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69" b="1">
                <a:solidFill>
                  <a:srgbClr val="19263A"/>
                </a:solidFill>
                <a:latin typeface="Aptos"/>
              </a:rPr>
              <a:t>MODEL CONFIGURATION &amp; EVALUATION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541264" y="5614416"/>
            <a:ext cx="566928" cy="27432"/>
          </a:xfrm>
          <a:prstGeom prst="rect">
            <a:avLst/>
          </a:prstGeom>
          <a:solidFill>
            <a:srgbClr val="2657A0"/>
          </a:solidFill>
          <a:ln>
            <a:solidFill>
              <a:srgbClr val="265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148072" y="5687568"/>
            <a:ext cx="192024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605" b="0">
                <a:solidFill>
                  <a:srgbClr val="414D5E"/>
                </a:solidFill>
                <a:latin typeface="Aptos"/>
              </a:rPr>
              <a:t>CREDIT RISK
Decision Tree • Random Forest • Extra Trees • XGBoost
Metrics: Accuracy • Precision • Recall • F1 • Confusion Matrix • ROC-AUC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178040" y="5687568"/>
            <a:ext cx="1901952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605" b="0">
                <a:solidFill>
                  <a:srgbClr val="414D5E"/>
                </a:solidFill>
                <a:latin typeface="Aptos"/>
              </a:rPr>
              <a:t>SEGMENTATION
K-Means • Hierarchical • DBSCAN
Validation: Elbow • Silhouette • Davies–Bouldin • PCA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148072" y="6300216"/>
            <a:ext cx="393192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60" b="1">
                <a:solidFill>
                  <a:srgbClr val="B54040"/>
                </a:solidFill>
                <a:latin typeface="Aptos"/>
              </a:rPr>
              <a:t>Select the best model using both statistical performance and business risk considerations.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965192" y="6629400"/>
            <a:ext cx="4315968" cy="3858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129783" y="6748272"/>
            <a:ext cx="320040" cy="320040"/>
          </a:xfrm>
          <a:prstGeom prst="ellipse">
            <a:avLst/>
          </a:prstGeom>
          <a:solidFill>
            <a:srgbClr val="16857E"/>
          </a:solidFill>
          <a:ln>
            <a:solidFill>
              <a:srgbClr val="16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129783" y="6798564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541264" y="6757416"/>
            <a:ext cx="357530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69" b="1">
                <a:solidFill>
                  <a:srgbClr val="19263A"/>
                </a:solidFill>
                <a:latin typeface="Aptos"/>
              </a:rPr>
              <a:t>SEGMENTATION VALIDATION &amp; ACTUAL RESULTS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541264" y="7013448"/>
            <a:ext cx="566928" cy="27432"/>
          </a:xfrm>
          <a:prstGeom prst="rect">
            <a:avLst/>
          </a:prstGeom>
          <a:solidFill>
            <a:srgbClr val="16857E"/>
          </a:solidFill>
          <a:ln>
            <a:solidFill>
              <a:srgbClr val="16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4" name="Picture 133" descr="e07d4602-7406-4b7e-a42f-aa2e7e4c4e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072" y="7086600"/>
            <a:ext cx="1874519" cy="1325880"/>
          </a:xfrm>
          <a:prstGeom prst="rect">
            <a:avLst/>
          </a:prstGeom>
        </p:spPr>
      </p:pic>
      <p:pic>
        <p:nvPicPr>
          <p:cNvPr id="135" name="Picture 134" descr="1cc44805-df24-4af1-a1b9-5aa76e82ddf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183" y="7086600"/>
            <a:ext cx="1874519" cy="1325880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5148072" y="8430768"/>
            <a:ext cx="1874519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60" b="1">
                <a:solidFill>
                  <a:srgbClr val="16857E"/>
                </a:solidFill>
                <a:latin typeface="Aptos"/>
              </a:rPr>
              <a:t>ELBOW METHOD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187183" y="8430768"/>
            <a:ext cx="1874519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60" b="1">
                <a:solidFill>
                  <a:srgbClr val="16857E"/>
                </a:solidFill>
                <a:latin typeface="Aptos"/>
              </a:rPr>
              <a:t>PCA — K=6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148072" y="8613648"/>
            <a:ext cx="393192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80" b="0">
                <a:solidFill>
                  <a:srgbClr val="414D5E"/>
                </a:solidFill>
                <a:latin typeface="Aptos"/>
              </a:rPr>
              <a:t>WCSS falls rapidly as K increases and then shows diminishing improvement around K≈6–7. The implemented notebook uses K = 6.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138928" y="8942832"/>
            <a:ext cx="32004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30" b="1">
                <a:solidFill>
                  <a:srgbClr val="6F7C8E"/>
                </a:solidFill>
                <a:latin typeface="Aptos"/>
              </a:rPr>
              <a:t>ID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458968" y="8942832"/>
            <a:ext cx="393192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30" b="1">
                <a:solidFill>
                  <a:srgbClr val="6F7C8E"/>
                </a:solidFill>
                <a:latin typeface="Aptos"/>
              </a:rPr>
              <a:t>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852159" y="8942832"/>
            <a:ext cx="658368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30" b="1">
                <a:solidFill>
                  <a:srgbClr val="6F7C8E"/>
                </a:solidFill>
                <a:latin typeface="Aptos"/>
              </a:rPr>
              <a:t>INCOME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510527" y="8942832"/>
            <a:ext cx="603504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30" b="1">
                <a:solidFill>
                  <a:srgbClr val="6F7C8E"/>
                </a:solidFill>
                <a:latin typeface="Aptos"/>
              </a:rPr>
              <a:t>RECENCY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114031" y="8942832"/>
            <a:ext cx="585216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30" b="1">
                <a:solidFill>
                  <a:srgbClr val="6F7C8E"/>
                </a:solidFill>
                <a:latin typeface="Aptos"/>
              </a:rPr>
              <a:t>SPEND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699248" y="8942832"/>
            <a:ext cx="137160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30" b="1">
                <a:solidFill>
                  <a:srgbClr val="6F7C8E"/>
                </a:solidFill>
                <a:latin typeface="Aptos"/>
              </a:rPr>
              <a:t>PROFILE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138928" y="9162288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1">
                <a:solidFill>
                  <a:srgbClr val="19263A"/>
                </a:solidFill>
                <a:latin typeface="Aptos"/>
              </a:rPr>
              <a:t>C0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458968" y="9162288"/>
            <a:ext cx="39319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298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852159" y="9162288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44.7k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510527" y="9162288"/>
            <a:ext cx="603504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59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114031" y="9162288"/>
            <a:ext cx="58521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199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699248" y="9162288"/>
            <a:ext cx="13716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1">
                <a:solidFill>
                  <a:srgbClr val="19263A"/>
                </a:solidFill>
                <a:latin typeface="Aptos"/>
              </a:rPr>
              <a:t>Older / low-spend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138928" y="9390888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1">
                <a:solidFill>
                  <a:srgbClr val="19263A"/>
                </a:solidFill>
                <a:latin typeface="Aptos"/>
              </a:rPr>
              <a:t>C1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458968" y="9390888"/>
            <a:ext cx="39319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309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852159" y="9390888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76.5k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510527" y="9390888"/>
            <a:ext cx="603504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24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114031" y="9390888"/>
            <a:ext cx="58521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1171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99248" y="9390888"/>
            <a:ext cx="13716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1">
                <a:solidFill>
                  <a:srgbClr val="19263A"/>
                </a:solidFill>
                <a:latin typeface="Aptos"/>
              </a:rPr>
              <a:t>Premium / high-value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138928" y="9619488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1">
                <a:solidFill>
                  <a:srgbClr val="19263A"/>
                </a:solidFill>
                <a:latin typeface="Aptos"/>
              </a:rPr>
              <a:t>C2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458968" y="9619488"/>
            <a:ext cx="39319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394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852159" y="9619488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59.7k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510527" y="9619488"/>
            <a:ext cx="603504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46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114031" y="9619488"/>
            <a:ext cx="58521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894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699248" y="9619488"/>
            <a:ext cx="13716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1">
                <a:solidFill>
                  <a:srgbClr val="19263A"/>
                </a:solidFill>
                <a:latin typeface="Aptos"/>
              </a:rPr>
              <a:t>Engaged / digital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138928" y="9848088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1">
                <a:solidFill>
                  <a:srgbClr val="19263A"/>
                </a:solidFill>
                <a:latin typeface="Aptos"/>
              </a:rPr>
              <a:t>C3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458968" y="9848088"/>
            <a:ext cx="39319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361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852159" y="9848088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74.7k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510527" y="9848088"/>
            <a:ext cx="603504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71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114031" y="9848088"/>
            <a:ext cx="58521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1316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699248" y="9848088"/>
            <a:ext cx="13716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1">
                <a:solidFill>
                  <a:srgbClr val="19263A"/>
                </a:solidFill>
                <a:latin typeface="Aptos"/>
              </a:rPr>
              <a:t>High-value / at-risk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138928" y="10076688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1">
                <a:solidFill>
                  <a:srgbClr val="19263A"/>
                </a:solidFill>
                <a:latin typeface="Aptos"/>
              </a:rPr>
              <a:t>C4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458968" y="10076688"/>
            <a:ext cx="39319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474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852159" y="10076688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34.1k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510527" y="10076688"/>
            <a:ext cx="603504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23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114031" y="10076688"/>
            <a:ext cx="58521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120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699248" y="10076688"/>
            <a:ext cx="13716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1">
                <a:solidFill>
                  <a:srgbClr val="19263A"/>
                </a:solidFill>
                <a:latin typeface="Aptos"/>
              </a:rPr>
              <a:t>Budget / low-spend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138928" y="10305288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1">
                <a:solidFill>
                  <a:srgbClr val="19263A"/>
                </a:solidFill>
                <a:latin typeface="Aptos"/>
              </a:rPr>
              <a:t>C5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458968" y="10305288"/>
            <a:ext cx="39319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380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852159" y="10305288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32.0k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510527" y="10305288"/>
            <a:ext cx="603504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75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114031" y="10305288"/>
            <a:ext cx="58521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0">
                <a:solidFill>
                  <a:srgbClr val="414D5E"/>
                </a:solidFill>
                <a:latin typeface="Aptos"/>
              </a:rPr>
              <a:t>106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699248" y="10305288"/>
            <a:ext cx="13716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5" b="1">
                <a:solidFill>
                  <a:srgbClr val="19263A"/>
                </a:solidFill>
                <a:latin typeface="Aptos"/>
              </a:rPr>
              <a:t>Low-engagement / at-risk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148072" y="10579608"/>
            <a:ext cx="3913632" cy="822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490" b="0">
                <a:solidFill>
                  <a:srgbClr val="6F7C8E"/>
                </a:solidFill>
                <a:latin typeface="Aptos"/>
              </a:rPr>
              <a:t>Cluster profiles are interpreted from the supplied notebook's actual cluster means.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9537192" y="1426464"/>
            <a:ext cx="5193792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9701784" y="1545336"/>
            <a:ext cx="320040" cy="320040"/>
          </a:xfrm>
          <a:prstGeom prst="ellipse">
            <a:avLst/>
          </a:prstGeom>
          <a:solidFill>
            <a:srgbClr val="16857E"/>
          </a:solidFill>
          <a:ln>
            <a:solidFill>
              <a:srgbClr val="16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701784" y="1595628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0113263" y="1554480"/>
            <a:ext cx="4453127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69" b="1">
                <a:solidFill>
                  <a:srgbClr val="19263A"/>
                </a:solidFill>
                <a:latin typeface="Aptos"/>
              </a:rPr>
              <a:t>EDA — RELATIONSHIP STRUCTURE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0113263" y="1810512"/>
            <a:ext cx="566928" cy="27432"/>
          </a:xfrm>
          <a:prstGeom prst="rect">
            <a:avLst/>
          </a:prstGeom>
          <a:solidFill>
            <a:srgbClr val="16857E"/>
          </a:solidFill>
          <a:ln>
            <a:solidFill>
              <a:srgbClr val="16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7" name="Picture 186" descr="ec07acbc-bd3a-4b64-9c32-8b8df6f5a56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0072" y="1810512"/>
            <a:ext cx="1581912" cy="1060704"/>
          </a:xfrm>
          <a:prstGeom prst="rect">
            <a:avLst/>
          </a:prstGeom>
        </p:spPr>
      </p:pic>
      <p:pic>
        <p:nvPicPr>
          <p:cNvPr id="188" name="Picture 187" descr="82b93e07-11e9-4e73-a30a-35908ce302a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0" y="1810512"/>
            <a:ext cx="1417320" cy="1060704"/>
          </a:xfrm>
          <a:prstGeom prst="rect">
            <a:avLst/>
          </a:prstGeom>
        </p:spPr>
      </p:pic>
      <p:pic>
        <p:nvPicPr>
          <p:cNvPr id="189" name="Picture 188" descr="2ae1deab-635d-4a57-bf56-c4417b2fc54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66192" y="1810512"/>
            <a:ext cx="1417320" cy="1060704"/>
          </a:xfrm>
          <a:prstGeom prst="rect">
            <a:avLst/>
          </a:prstGeom>
        </p:spPr>
      </p:pic>
      <p:sp>
        <p:nvSpPr>
          <p:cNvPr id="190" name="TextBox 189"/>
          <p:cNvSpPr txBox="1"/>
          <p:nvPr/>
        </p:nvSpPr>
        <p:spPr>
          <a:xfrm>
            <a:off x="9720072" y="2907792"/>
            <a:ext cx="1581912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40" b="1">
                <a:solidFill>
                  <a:srgbClr val="16857E"/>
                </a:solidFill>
                <a:latin typeface="Aptos"/>
              </a:rPr>
              <a:t>CORRELATION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1430000" y="2907792"/>
            <a:ext cx="141732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40" b="1">
                <a:solidFill>
                  <a:srgbClr val="16857E"/>
                </a:solidFill>
                <a:latin typeface="Aptos"/>
              </a:rPr>
              <a:t>INCOME / AGE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2966192" y="2907792"/>
            <a:ext cx="141732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40" b="1">
                <a:solidFill>
                  <a:srgbClr val="D3912C"/>
                </a:solidFill>
                <a:latin typeface="Aptos"/>
              </a:rPr>
              <a:t>CAMPAIGN RATE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9537192" y="3657600"/>
            <a:ext cx="5193792" cy="1755648"/>
          </a:xfrm>
          <a:prstGeom prst="roundRect">
            <a:avLst>
              <a:gd name="adj" fmla="val 4000"/>
            </a:avLst>
          </a:prstGeom>
          <a:solidFill>
            <a:srgbClr val="FDF5E8"/>
          </a:solidFill>
          <a:ln>
            <a:solidFill>
              <a:srgbClr val="FD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9701784" y="3776472"/>
            <a:ext cx="320040" cy="320040"/>
          </a:xfrm>
          <a:prstGeom prst="ellipse">
            <a:avLst/>
          </a:prstGeom>
          <a:solidFill>
            <a:srgbClr val="D3912C"/>
          </a:solidFill>
          <a:ln>
            <a:solidFill>
              <a:srgbClr val="D3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9701784" y="3826763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0113263" y="3785615"/>
            <a:ext cx="4453127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69" b="1">
                <a:solidFill>
                  <a:srgbClr val="19263A"/>
                </a:solidFill>
                <a:latin typeface="Aptos"/>
              </a:rPr>
              <a:t>WHAT THE EDA REVEALS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0113263" y="4041648"/>
            <a:ext cx="566928" cy="27432"/>
          </a:xfrm>
          <a:prstGeom prst="rect">
            <a:avLst/>
          </a:prstGeom>
          <a:solidFill>
            <a:srgbClr val="D3912C"/>
          </a:solidFill>
          <a:ln>
            <a:solidFill>
              <a:srgbClr val="D3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720072" y="4133087"/>
            <a:ext cx="4828031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645" b="0">
                <a:solidFill>
                  <a:srgbClr val="414D5E"/>
                </a:solidFill>
                <a:latin typeface="Aptos"/>
              </a:rPr>
              <a:t>• Income ↔ Total Spending: r ≈ 0.67
• Total Spending ↔ Store Purchases: r ≈ 0.68
• Total Spending ↔ Web Purchases: r ≈ 0.53
• Recency shows near-zero linear correlation with the selected value/purchase variables.
• Income and spending are strongly right-skewed; extreme observations need careful interpretation.
• Marital-status categories contain anomalies (e.g., Absurd / YOLO), highlighting the need for validation.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9537192" y="5605272"/>
            <a:ext cx="5193792" cy="17465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9701784" y="5724144"/>
            <a:ext cx="320040" cy="320040"/>
          </a:xfrm>
          <a:prstGeom prst="ellipse">
            <a:avLst/>
          </a:prstGeom>
          <a:solidFill>
            <a:srgbClr val="6F509D"/>
          </a:solidFill>
          <a:ln>
            <a:solidFill>
              <a:srgbClr val="6F5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9701784" y="5774436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113263" y="5733288"/>
            <a:ext cx="4453127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69" b="1">
                <a:solidFill>
                  <a:srgbClr val="19263A"/>
                </a:solidFill>
                <a:latin typeface="Aptos"/>
              </a:rPr>
              <a:t>SEGMENT PROFILING → BANKING STRATEGY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0113263" y="5989320"/>
            <a:ext cx="566928" cy="27432"/>
          </a:xfrm>
          <a:prstGeom prst="rect">
            <a:avLst/>
          </a:prstGeom>
          <a:solidFill>
            <a:srgbClr val="6F509D"/>
          </a:solidFill>
          <a:ln>
            <a:solidFill>
              <a:srgbClr val="6F5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9720072" y="6089904"/>
            <a:ext cx="106070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80" b="1">
                <a:solidFill>
                  <a:srgbClr val="6F509D"/>
                </a:solidFill>
                <a:latin typeface="Aptos"/>
              </a:rPr>
              <a:t>PREMIUM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0881360" y="6089904"/>
            <a:ext cx="14813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55" b="0">
                <a:solidFill>
                  <a:srgbClr val="414D5E"/>
                </a:solidFill>
                <a:latin typeface="Aptos"/>
              </a:rPr>
              <a:t>High income + high spending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2481560" y="6089904"/>
            <a:ext cx="20299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50" b="0">
                <a:solidFill>
                  <a:srgbClr val="414D5E"/>
                </a:solidFill>
                <a:latin typeface="Aptos"/>
              </a:rPr>
              <a:t>Wealth management • premium banking • investment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9720072" y="6336792"/>
            <a:ext cx="106070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80" b="1">
                <a:solidFill>
                  <a:srgbClr val="6F509D"/>
                </a:solidFill>
                <a:latin typeface="Aptos"/>
              </a:rPr>
              <a:t>GROWTH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881360" y="6336792"/>
            <a:ext cx="14813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55" b="0">
                <a:solidFill>
                  <a:srgbClr val="414D5E"/>
                </a:solidFill>
                <a:latin typeface="Aptos"/>
              </a:rPr>
              <a:t>Moderate income + increasing spending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2481560" y="6336792"/>
            <a:ext cx="20299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50" b="0">
                <a:solidFill>
                  <a:srgbClr val="414D5E"/>
                </a:solidFill>
                <a:latin typeface="Aptos"/>
              </a:rPr>
              <a:t>Upselling • personalised offers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720072" y="6583679"/>
            <a:ext cx="106070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80" b="1">
                <a:solidFill>
                  <a:srgbClr val="6F509D"/>
                </a:solidFill>
                <a:latin typeface="Aptos"/>
              </a:rPr>
              <a:t>DIGITAL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0881360" y="6583679"/>
            <a:ext cx="14813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55" b="0">
                <a:solidFill>
                  <a:srgbClr val="414D5E"/>
                </a:solidFill>
                <a:latin typeface="Aptos"/>
              </a:rPr>
              <a:t>High web purchases + online engagement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2481560" y="6583679"/>
            <a:ext cx="20299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50" b="0">
                <a:solidFill>
                  <a:srgbClr val="414D5E"/>
                </a:solidFill>
                <a:latin typeface="Aptos"/>
              </a:rPr>
              <a:t>Digital products • mobile campaigns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720072" y="6830567"/>
            <a:ext cx="106070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80" b="1">
                <a:solidFill>
                  <a:srgbClr val="6F509D"/>
                </a:solidFill>
                <a:latin typeface="Aptos"/>
              </a:rPr>
              <a:t>PRICE-SENSITIVE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0881360" y="6830567"/>
            <a:ext cx="14813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55" b="0">
                <a:solidFill>
                  <a:srgbClr val="414D5E"/>
                </a:solidFill>
                <a:latin typeface="Aptos"/>
              </a:rPr>
              <a:t>Low spending + frequent deals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2481560" y="6830567"/>
            <a:ext cx="20299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50" b="0">
                <a:solidFill>
                  <a:srgbClr val="414D5E"/>
                </a:solidFill>
                <a:latin typeface="Aptos"/>
              </a:rPr>
              <a:t>Discounts • budget products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9720072" y="7077455"/>
            <a:ext cx="106070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80" b="1">
                <a:solidFill>
                  <a:srgbClr val="6F509D"/>
                </a:solidFill>
                <a:latin typeface="Aptos"/>
              </a:rPr>
              <a:t>AT-RISK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0881360" y="7077455"/>
            <a:ext cx="14813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55" b="0">
                <a:solidFill>
                  <a:srgbClr val="414D5E"/>
                </a:solidFill>
                <a:latin typeface="Aptos"/>
              </a:rPr>
              <a:t>Low engagement + high recency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2481560" y="7077455"/>
            <a:ext cx="20299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550" b="0">
                <a:solidFill>
                  <a:srgbClr val="414D5E"/>
                </a:solidFill>
                <a:latin typeface="Aptos"/>
              </a:rPr>
              <a:t>Retention • re-engagement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9537192" y="7516368"/>
            <a:ext cx="5193792" cy="1481328"/>
          </a:xfrm>
          <a:prstGeom prst="roundRect">
            <a:avLst>
              <a:gd name="adj" fmla="val 4000"/>
            </a:avLst>
          </a:prstGeom>
          <a:solidFill>
            <a:srgbClr val="E9F7F5"/>
          </a:solidFill>
          <a:ln>
            <a:solidFill>
              <a:srgbClr val="E9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701784" y="7635240"/>
            <a:ext cx="320040" cy="320040"/>
          </a:xfrm>
          <a:prstGeom prst="ellipse">
            <a:avLst/>
          </a:prstGeom>
          <a:solidFill>
            <a:srgbClr val="16857E"/>
          </a:solidFill>
          <a:ln>
            <a:solidFill>
              <a:srgbClr val="16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9701784" y="7685531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0113263" y="7644383"/>
            <a:ext cx="4453127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69" b="1">
                <a:solidFill>
                  <a:srgbClr val="19263A"/>
                </a:solidFill>
                <a:latin typeface="Aptos"/>
              </a:rPr>
              <a:t>CUSTOMER SEGMENT PREDICTION &amp; STREAMLIT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0113263" y="7900415"/>
            <a:ext cx="566928" cy="27432"/>
          </a:xfrm>
          <a:prstGeom prst="rect">
            <a:avLst/>
          </a:prstGeom>
          <a:solidFill>
            <a:srgbClr val="16857E"/>
          </a:solidFill>
          <a:ln>
            <a:solidFill>
              <a:srgbClr val="16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9720072" y="7982712"/>
            <a:ext cx="23317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610" b="1">
                <a:solidFill>
                  <a:srgbClr val="414D5E"/>
                </a:solidFill>
                <a:latin typeface="Aptos"/>
              </a:rPr>
              <a:t>NEW CUSTOMER
Profile + spending + purchases + engagement
↓
Random Forest / XGBoost / LightGBM
↓
Predicted Segment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2252960" y="7982712"/>
            <a:ext cx="2304288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610" b="1">
                <a:solidFill>
                  <a:srgbClr val="414D5E"/>
                </a:solidFill>
                <a:latin typeface="Aptos"/>
              </a:rPr>
              <a:t>INTERACTIVE APPLICATION
Input → preprocessing → inference
→ segment/risk → profile → recommendation
Real-time decision support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9537192" y="9153144"/>
            <a:ext cx="5193792" cy="13350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701784" y="9272016"/>
            <a:ext cx="320040" cy="320040"/>
          </a:xfrm>
          <a:prstGeom prst="ellipse">
            <a:avLst/>
          </a:prstGeom>
          <a:solidFill>
            <a:srgbClr val="2657A0"/>
          </a:solidFill>
          <a:ln>
            <a:solidFill>
              <a:srgbClr val="265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9701784" y="9322308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0113263" y="9281160"/>
            <a:ext cx="4453127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69" b="1">
                <a:solidFill>
                  <a:srgbClr val="19263A"/>
                </a:solidFill>
                <a:latin typeface="Aptos"/>
              </a:rPr>
              <a:t>REAL-WORLD APPLICATIONS, LIMITATIONS &amp; FUTURE WORK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10113263" y="9537192"/>
            <a:ext cx="566928" cy="27432"/>
          </a:xfrm>
          <a:prstGeom prst="rect">
            <a:avLst/>
          </a:prstGeom>
          <a:solidFill>
            <a:srgbClr val="2657A0"/>
          </a:solidFill>
          <a:ln>
            <a:solidFill>
              <a:srgbClr val="265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9720072" y="9592056"/>
            <a:ext cx="2322576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600" b="0">
                <a:solidFill>
                  <a:srgbClr val="414D5E"/>
                </a:solidFill>
                <a:latin typeface="Aptos"/>
              </a:rPr>
              <a:t>APPLICATIONS
• Automated loan processing
• Risk-aware credit limits
• Digital lending / credit cards
• Targeted marketing &amp; product recommendation
• Retention and financial inclusion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2252960" y="9592056"/>
            <a:ext cx="2304288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600" b="0">
                <a:solidFill>
                  <a:srgbClr val="414D5E"/>
                </a:solidFill>
                <a:latin typeface="Aptos"/>
              </a:rPr>
              <a:t>PRODUCTION REQUIREMENTS
• SHAP explainability
• Bias / fairness testing
• Privacy &amp; security
• Regulatory compliance
• Monitoring + retraining
• Add trained credit-risk metrics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393192" y="10552176"/>
            <a:ext cx="14337792" cy="137160"/>
          </a:xfrm>
          <a:prstGeom prst="rect">
            <a:avLst/>
          </a:prstGeom>
          <a:solidFill>
            <a:srgbClr val="141F3D"/>
          </a:solidFill>
          <a:ln>
            <a:solidFill>
              <a:srgbClr val="14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438912" y="10579608"/>
            <a:ext cx="8686800" cy="731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90" b="1">
                <a:solidFill>
                  <a:srgbClr val="FFFFFF"/>
                </a:solidFill>
                <a:latin typeface="Aptos"/>
              </a:rPr>
              <a:t>TECHNOLOGY: Python • Pandas • NumPy • Scikit-learn • XGBoost • K-Means • Matplotlib • Seaborn • Plotly • Streamlit • SHAP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9144000" y="10579608"/>
            <a:ext cx="5486400" cy="731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490" b="1">
                <a:solidFill>
                  <a:srgbClr val="FFFFFF"/>
                </a:solidFill>
                <a:latin typeface="Aptos"/>
              </a:rPr>
              <a:t>FINAL OUTPUT: Risk Prediction + Customer Segments + Actionable Banking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